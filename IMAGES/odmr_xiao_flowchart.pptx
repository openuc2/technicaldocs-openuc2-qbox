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B818"/>
    <a:srgbClr val="1E9C7C"/>
    <a:srgbClr val="0237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6"/>
    <p:restoredTop sz="94694"/>
  </p:normalViewPr>
  <p:slideViewPr>
    <p:cSldViewPr snapToGrid="0">
      <p:cViewPr>
        <p:scale>
          <a:sx n="96" d="100"/>
          <a:sy n="96" d="100"/>
        </p:scale>
        <p:origin x="-48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E6E5BC-855A-8B22-883E-EC17D4D4A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447600E-E8F6-3B1B-EFF7-45D51B619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D1AD0B-1952-DB44-1636-0C257745C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2D5B-2434-B34E-BAB9-A635C03A3580}" type="datetimeFigureOut">
              <a:rPr lang="de-DE" smtClean="0"/>
              <a:t>25.03.26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DEA556-0E4D-299C-A7B2-0F188414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3A5CD9-348A-2243-9B4D-6F22862D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830C-A975-634C-8EF1-B1D7DC5C69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128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600FB6-93F5-1157-7B2A-31C845F3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8953E-5AB6-A4DB-4B07-5D673BA02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121E8F-7E6A-81AF-E4D6-043CA75FD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2D5B-2434-B34E-BAB9-A635C03A3580}" type="datetimeFigureOut">
              <a:rPr lang="de-DE" smtClean="0"/>
              <a:t>25.03.26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CA0CD4-72BD-395A-BD35-991EF9670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667614-2B7D-288C-653A-BEA27BC3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830C-A975-634C-8EF1-B1D7DC5C69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5084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469793-7F45-00E0-E675-38D63229A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84AF69-3C48-EE12-D953-C17AD5CA6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5AAD83-3F85-AE62-C7D5-14E4509F5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2D5B-2434-B34E-BAB9-A635C03A3580}" type="datetimeFigureOut">
              <a:rPr lang="de-DE" smtClean="0"/>
              <a:t>25.03.26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A02FE2-9E1C-7BD1-A788-67F369E9C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23495D-1030-EE7A-3430-64936E8D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830C-A975-634C-8EF1-B1D7DC5C69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8491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B13E13-C7D9-5779-9A6B-4EDE24ED2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91E27E-AE44-9EB1-1DEE-EA774962A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BCCEDC0-16C6-64E7-1362-88E0ADAB9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18CD9B-E7DA-0310-54B7-2E1B3DA3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2D5B-2434-B34E-BAB9-A635C03A3580}" type="datetimeFigureOut">
              <a:rPr lang="de-DE" smtClean="0"/>
              <a:t>25.03.26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F3CB96-C34D-DD3D-44D0-2DF724A5C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4CF23B-6613-159A-6C48-381ED1118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830C-A975-634C-8EF1-B1D7DC5C69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5524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75FA5C-13CA-805C-A558-C0C3868A8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9FD15C-7731-4E58-116A-57C4CC291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0D007FD-1EB4-28BF-B62A-3BAE8866C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1891BC2-B044-DC47-8FA3-B7E00944F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91579F7-6769-7107-FB4F-28B3920B51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96C38AE-8F21-2C6A-DB3C-11CF69CF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2D5B-2434-B34E-BAB9-A635C03A3580}" type="datetimeFigureOut">
              <a:rPr lang="de-DE" smtClean="0"/>
              <a:t>25.03.26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D2B550B-F7F9-7C05-7B94-88CE3039A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566EDF5-8C2A-55AB-67B6-4020366E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830C-A975-634C-8EF1-B1D7DC5C69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5161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7C3AF-4629-F2AF-6DFB-9F5DBAA8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6C8B6F-4DFB-887D-57A6-1F10907B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2D5B-2434-B34E-BAB9-A635C03A3580}" type="datetimeFigureOut">
              <a:rPr lang="de-DE" smtClean="0"/>
              <a:t>25.03.26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FFCE30A-6F48-1EC1-BD18-E66CCA01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2919BC-7559-1BF7-5290-7A595DDE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830C-A975-634C-8EF1-B1D7DC5C69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39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8BBAA64-84EF-D3B3-02D8-2A556CD5F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2D5B-2434-B34E-BAB9-A635C03A3580}" type="datetimeFigureOut">
              <a:rPr lang="de-DE" smtClean="0"/>
              <a:t>25.03.26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3E5C6AC-FD50-3BF4-571B-4F2E4EB13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E32221-7C26-0F6A-90E1-20979B722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830C-A975-634C-8EF1-B1D7DC5C69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27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482FE5-3E6A-7785-4779-EDAA87049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BA835E-B227-8FE6-0599-8BBCC6878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901095E-1C29-0EB6-B14A-F499036D8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82D970-FD6B-529F-8568-F2EE64566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2D5B-2434-B34E-BAB9-A635C03A3580}" type="datetimeFigureOut">
              <a:rPr lang="de-DE" smtClean="0"/>
              <a:t>25.03.26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66A2AD-99C6-D4CD-5AC9-05011A46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75DACA-13B1-A46C-6DCF-E83C703F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830C-A975-634C-8EF1-B1D7DC5C69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0330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9A923-5731-EC80-C0D0-5407EB441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66FAC16-1F80-4316-CAA0-E72BEFA38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4A3654F-2029-E892-6825-DBB42F2C8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C61AFE-375A-3456-7E78-C6F2D5084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2D5B-2434-B34E-BAB9-A635C03A3580}" type="datetimeFigureOut">
              <a:rPr lang="de-DE" smtClean="0"/>
              <a:t>25.03.26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1F8681-1CFA-C68D-922A-5ACC467C4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C2BB42-6DB3-7D50-D9D8-941691F1E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830C-A975-634C-8EF1-B1D7DC5C69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7836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A99CD7-72D1-5F17-EE21-E256F2041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3D17EFB-A9B9-FFEE-0FBB-EAE4C5B8D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54D336-30A4-FB25-D068-7854D5629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2D5B-2434-B34E-BAB9-A635C03A3580}" type="datetimeFigureOut">
              <a:rPr lang="de-DE" smtClean="0"/>
              <a:t>25.03.26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B3A14A-BAA3-7E63-52F1-54CF254A5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632227-B617-4D7F-61E2-A5AD0E024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830C-A975-634C-8EF1-B1D7DC5C69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6828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E5B0F9F-B7DD-5D72-D48F-9794BA4A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F8E3CC8-155A-E90C-4CF2-F13C2F679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DC0112-E4F4-8107-8F92-F53F81A7B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E2D5B-2434-B34E-BAB9-A635C03A3580}" type="datetimeFigureOut">
              <a:rPr lang="de-DE" smtClean="0"/>
              <a:t>25.03.26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8D26F5-1742-BA30-CFB6-984B80BB7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BDF3B3-A66A-B8E3-E68D-D39FB1427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830C-A975-634C-8EF1-B1D7DC5C69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4784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3FF90AB-A542-6DED-E870-100E445BC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E561A2-D891-110F-0F2A-B52E400F5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CD5CDD-34F3-AE23-4F5E-723FACA1B9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9E2D5B-2434-B34E-BAB9-A635C03A3580}" type="datetimeFigureOut">
              <a:rPr lang="de-DE" smtClean="0"/>
              <a:t>25.03.26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294B03-57A0-13D0-9738-3B733CD94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0CA2F9-76DD-8792-0B4A-6D51ADF42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2830C-A975-634C-8EF1-B1D7DC5C69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744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afik 4">
            <a:extLst>
              <a:ext uri="{FF2B5EF4-FFF2-40B4-BE49-F238E27FC236}">
                <a16:creationId xmlns:a16="http://schemas.microsoft.com/office/drawing/2014/main" id="{B35BC2B2-FD79-0CF9-61E9-48A48E735FB6}"/>
              </a:ext>
            </a:extLst>
          </p:cNvPr>
          <p:cNvGrpSpPr/>
          <p:nvPr/>
        </p:nvGrpSpPr>
        <p:grpSpPr>
          <a:xfrm>
            <a:off x="3540331" y="172331"/>
            <a:ext cx="2476500" cy="494419"/>
            <a:chOff x="3540331" y="172331"/>
            <a:chExt cx="2476500" cy="494419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2A6061D3-91FE-11E4-61EC-DEC55B07B71B}"/>
                </a:ext>
              </a:extLst>
            </p:cNvPr>
            <p:cNvSpPr/>
            <p:nvPr/>
          </p:nvSpPr>
          <p:spPr>
            <a:xfrm>
              <a:off x="3540331" y="190500"/>
              <a:ext cx="2476500" cy="476250"/>
            </a:xfrm>
            <a:prstGeom prst="rect">
              <a:avLst/>
            </a:prstGeom>
            <a:solidFill>
              <a:srgbClr val="F1EFE8"/>
            </a:solidFill>
            <a:ln w="4763" cap="flat">
              <a:solidFill>
                <a:srgbClr val="5F5E5A"/>
              </a:solidFill>
              <a:prstDash val="solid"/>
              <a:miter/>
            </a:ln>
          </p:spPr>
          <p:txBody>
            <a:bodyPr/>
            <a:lstStyle/>
            <a:p>
              <a:endParaRPr lang="de-DE">
                <a:latin typeface="Objectivity" pitchFamily="2" charset="77"/>
              </a:endParaRP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A842A5F8-4BE2-8421-E2D1-CA5EE59FF6F5}"/>
                </a:ext>
              </a:extLst>
            </p:cNvPr>
            <p:cNvSpPr txBox="1"/>
            <p:nvPr/>
          </p:nvSpPr>
          <p:spPr>
            <a:xfrm>
              <a:off x="4073359" y="172331"/>
              <a:ext cx="160813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1050" spc="0" baseline="0">
                  <a:ln/>
                  <a:solidFill>
                    <a:srgbClr val="444441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Smartphone / laptop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474F8A96-3B2E-D7FD-7FF7-540ACFF4F4CA}"/>
                </a:ext>
              </a:extLst>
            </p:cNvPr>
            <p:cNvSpPr txBox="1"/>
            <p:nvPr/>
          </p:nvSpPr>
          <p:spPr>
            <a:xfrm>
              <a:off x="4122338" y="345288"/>
              <a:ext cx="14318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900" spc="0" baseline="0">
                  <a:ln/>
                  <a:solidFill>
                    <a:srgbClr val="5F5E5A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Browser at 192.168.4.1</a:t>
              </a:r>
            </a:p>
          </p:txBody>
        </p:sp>
      </p:grp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F5A3C1BE-7CE5-0FB5-605B-5976D2CE4AD6}"/>
              </a:ext>
            </a:extLst>
          </p:cNvPr>
          <p:cNvSpPr/>
          <p:nvPr/>
        </p:nvSpPr>
        <p:spPr>
          <a:xfrm>
            <a:off x="4778581" y="666750"/>
            <a:ext cx="9525" cy="381000"/>
          </a:xfrm>
          <a:custGeom>
            <a:avLst/>
            <a:gdLst>
              <a:gd name="csX0" fmla="*/ 0 w 9525"/>
              <a:gd name="csY0" fmla="*/ 0 h 381000"/>
              <a:gd name="csX1" fmla="*/ 0 w 9525"/>
              <a:gd name="csY1" fmla="*/ 381000 h 38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4288" cap="flat">
            <a:solidFill>
              <a:srgbClr val="73726C"/>
            </a:solidFill>
            <a:custDash>
              <a:ds d="300000" sp="225000"/>
            </a:custDash>
            <a:miter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41D85DE-6590-4606-F8B2-B068D80ADA45}"/>
              </a:ext>
            </a:extLst>
          </p:cNvPr>
          <p:cNvSpPr txBox="1"/>
          <p:nvPr/>
        </p:nvSpPr>
        <p:spPr>
          <a:xfrm>
            <a:off x="4782391" y="735813"/>
            <a:ext cx="6319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900" spc="0" baseline="0">
                <a:ln/>
                <a:solidFill>
                  <a:srgbClr val="3D3D3A"/>
                </a:solidFill>
                <a:latin typeface="Objectivity" pitchFamily="2" charset="77"/>
                <a:cs typeface="Segoe UI"/>
                <a:sym typeface="Segoe UI"/>
                <a:rtl val="0"/>
              </a:rPr>
              <a:t>WiFi AP</a:t>
            </a:r>
          </a:p>
        </p:txBody>
      </p:sp>
      <p:grpSp>
        <p:nvGrpSpPr>
          <p:cNvPr id="16" name="Grafik 4">
            <a:extLst>
              <a:ext uri="{FF2B5EF4-FFF2-40B4-BE49-F238E27FC236}">
                <a16:creationId xmlns:a16="http://schemas.microsoft.com/office/drawing/2014/main" id="{F8863127-2158-8166-E707-A279D61956D0}"/>
              </a:ext>
            </a:extLst>
          </p:cNvPr>
          <p:cNvGrpSpPr/>
          <p:nvPr/>
        </p:nvGrpSpPr>
        <p:grpSpPr>
          <a:xfrm>
            <a:off x="1805655" y="1047750"/>
            <a:ext cx="4592176" cy="666750"/>
            <a:chOff x="1805655" y="1047750"/>
            <a:chExt cx="4592176" cy="66675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9B14115F-B222-2D55-3C54-A234CDE2C226}"/>
                </a:ext>
              </a:extLst>
            </p:cNvPr>
            <p:cNvSpPr/>
            <p:nvPr/>
          </p:nvSpPr>
          <p:spPr>
            <a:xfrm>
              <a:off x="1805655" y="1047750"/>
              <a:ext cx="4592176" cy="666750"/>
            </a:xfrm>
            <a:prstGeom prst="rect">
              <a:avLst/>
            </a:prstGeom>
            <a:solidFill>
              <a:srgbClr val="E6F1FB"/>
            </a:solidFill>
            <a:ln w="9525" cap="flat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de-DE">
                <a:latin typeface="Objectivity" pitchFamily="2" charset="77"/>
              </a:endParaRP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409E9858-D6FA-DC6C-33E8-E4E8460B692E}"/>
                </a:ext>
              </a:extLst>
            </p:cNvPr>
            <p:cNvSpPr txBox="1"/>
            <p:nvPr/>
          </p:nvSpPr>
          <p:spPr>
            <a:xfrm>
              <a:off x="4237573" y="1105781"/>
              <a:ext cx="127470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1050" spc="0" baseline="0">
                  <a:ln/>
                  <a:solidFill>
                    <a:srgbClr val="0C447C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XIAO ESP32-C3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4309656E-F251-A103-FE68-6B45820B0F66}"/>
                </a:ext>
              </a:extLst>
            </p:cNvPr>
            <p:cNvSpPr txBox="1"/>
            <p:nvPr/>
          </p:nvSpPr>
          <p:spPr>
            <a:xfrm>
              <a:off x="3522291" y="1316838"/>
              <a:ext cx="286969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900" spc="0" baseline="0">
                  <a:ln/>
                  <a:solidFill>
                    <a:srgbClr val="185FA5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Web server + sweep controller + ADC readout</a:t>
              </a:r>
            </a:p>
          </p:txBody>
        </p:sp>
      </p:grpSp>
      <p:sp>
        <p:nvSpPr>
          <p:cNvPr id="20" name="Freihandform 19">
            <a:extLst>
              <a:ext uri="{FF2B5EF4-FFF2-40B4-BE49-F238E27FC236}">
                <a16:creationId xmlns:a16="http://schemas.microsoft.com/office/drawing/2014/main" id="{5CB4F8B9-6AB6-80CA-AC00-5F0FA8A09CE4}"/>
              </a:ext>
            </a:extLst>
          </p:cNvPr>
          <p:cNvSpPr/>
          <p:nvPr/>
        </p:nvSpPr>
        <p:spPr>
          <a:xfrm>
            <a:off x="2683081" y="1714500"/>
            <a:ext cx="1047750" cy="571500"/>
          </a:xfrm>
          <a:custGeom>
            <a:avLst/>
            <a:gdLst>
              <a:gd name="csX0" fmla="*/ 1047750 w 1047750"/>
              <a:gd name="csY0" fmla="*/ 0 h 571500"/>
              <a:gd name="csX1" fmla="*/ 0 w 1047750"/>
              <a:gd name="csY1" fmla="*/ 571500 h 571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47750" h="571500">
                <a:moveTo>
                  <a:pt x="1047750" y="0"/>
                </a:moveTo>
                <a:lnTo>
                  <a:pt x="0" y="571500"/>
                </a:lnTo>
              </a:path>
            </a:pathLst>
          </a:custGeom>
          <a:ln w="14288" cap="flat">
            <a:solidFill>
              <a:srgbClr val="73726C"/>
            </a:solidFill>
            <a:prstDash val="solid"/>
            <a:miter/>
            <a:tailEnd type="triangle"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3CDD6E8-2CF2-EC69-6C25-4495DD393859}"/>
              </a:ext>
            </a:extLst>
          </p:cNvPr>
          <p:cNvSpPr txBox="1"/>
          <p:nvPr/>
        </p:nvSpPr>
        <p:spPr>
          <a:xfrm>
            <a:off x="2267073" y="1812137"/>
            <a:ext cx="11464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900" spc="0" baseline="0" dirty="0">
                <a:ln/>
                <a:solidFill>
                  <a:srgbClr val="3D3D3A"/>
                </a:solidFill>
                <a:latin typeface="Objectivity" pitchFamily="2" charset="77"/>
                <a:cs typeface="Segoe UI"/>
                <a:sym typeface="Segoe UI"/>
                <a:rtl val="0"/>
              </a:rPr>
              <a:t>SPI (D7, D8, D10)</a:t>
            </a:r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E0627CF9-97C4-746B-C4BF-736B97F518A5}"/>
              </a:ext>
            </a:extLst>
          </p:cNvPr>
          <p:cNvSpPr/>
          <p:nvPr/>
        </p:nvSpPr>
        <p:spPr>
          <a:xfrm>
            <a:off x="5826331" y="1714500"/>
            <a:ext cx="1047750" cy="571500"/>
          </a:xfrm>
          <a:custGeom>
            <a:avLst/>
            <a:gdLst>
              <a:gd name="csX0" fmla="*/ 0 w 1047750"/>
              <a:gd name="csY0" fmla="*/ 0 h 571500"/>
              <a:gd name="csX1" fmla="*/ 1047750 w 1047750"/>
              <a:gd name="csY1" fmla="*/ 571500 h 571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47750" h="571500">
                <a:moveTo>
                  <a:pt x="0" y="0"/>
                </a:moveTo>
                <a:lnTo>
                  <a:pt x="1047750" y="571500"/>
                </a:lnTo>
              </a:path>
            </a:pathLst>
          </a:custGeom>
          <a:ln w="14288" cap="flat">
            <a:solidFill>
              <a:srgbClr val="73726C"/>
            </a:solidFill>
            <a:prstDash val="solid"/>
            <a:miter/>
            <a:tailEnd type="triangle"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FF3268B-F2C1-4960-D7B7-479A372962F3}"/>
              </a:ext>
            </a:extLst>
          </p:cNvPr>
          <p:cNvSpPr txBox="1"/>
          <p:nvPr/>
        </p:nvSpPr>
        <p:spPr>
          <a:xfrm>
            <a:off x="6370348" y="1812137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900" spc="0" baseline="0">
                <a:ln/>
                <a:solidFill>
                  <a:srgbClr val="3D3D3A"/>
                </a:solidFill>
                <a:latin typeface="Objectivity" pitchFamily="2" charset="77"/>
                <a:cs typeface="Segoe UI"/>
                <a:sym typeface="Segoe UI"/>
                <a:rtl val="0"/>
              </a:rPr>
              <a:t>I2C (D4, D5)</a:t>
            </a:r>
          </a:p>
        </p:txBody>
      </p:sp>
      <p:sp>
        <p:nvSpPr>
          <p:cNvPr id="24" name="Freihandform 23">
            <a:extLst>
              <a:ext uri="{FF2B5EF4-FFF2-40B4-BE49-F238E27FC236}">
                <a16:creationId xmlns:a16="http://schemas.microsoft.com/office/drawing/2014/main" id="{7B78E608-E216-C874-A3B4-F85EECBEBFA7}"/>
              </a:ext>
            </a:extLst>
          </p:cNvPr>
          <p:cNvSpPr/>
          <p:nvPr/>
        </p:nvSpPr>
        <p:spPr>
          <a:xfrm>
            <a:off x="4778581" y="1714500"/>
            <a:ext cx="9525" cy="571500"/>
          </a:xfrm>
          <a:custGeom>
            <a:avLst/>
            <a:gdLst>
              <a:gd name="csX0" fmla="*/ 0 w 9525"/>
              <a:gd name="csY0" fmla="*/ 0 h 571500"/>
              <a:gd name="csX1" fmla="*/ 0 w 9525"/>
              <a:gd name="csY1" fmla="*/ 571500 h 571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ln w="14288" cap="flat">
            <a:solidFill>
              <a:srgbClr val="73726C"/>
            </a:solidFill>
            <a:prstDash val="solid"/>
            <a:miter/>
            <a:tailEnd type="triangle"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DC05426-B92B-780C-1D07-C318A98720A1}"/>
              </a:ext>
            </a:extLst>
          </p:cNvPr>
          <p:cNvSpPr txBox="1"/>
          <p:nvPr/>
        </p:nvSpPr>
        <p:spPr>
          <a:xfrm>
            <a:off x="4782391" y="1878813"/>
            <a:ext cx="3449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900" spc="0" baseline="0">
                <a:ln/>
                <a:solidFill>
                  <a:srgbClr val="3D3D3A"/>
                </a:solidFill>
                <a:latin typeface="Objectivity" pitchFamily="2" charset="77"/>
                <a:cs typeface="Segoe UI"/>
                <a:sym typeface="Segoe UI"/>
                <a:rtl val="0"/>
              </a:rPr>
              <a:t>D6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EF2E0A54-2C29-C660-0C4D-7191BD0B4906}"/>
              </a:ext>
            </a:extLst>
          </p:cNvPr>
          <p:cNvSpPr/>
          <p:nvPr/>
        </p:nvSpPr>
        <p:spPr>
          <a:xfrm>
            <a:off x="1825831" y="2286000"/>
            <a:ext cx="1714500" cy="533400"/>
          </a:xfrm>
          <a:prstGeom prst="rect">
            <a:avLst/>
          </a:prstGeom>
          <a:solidFill>
            <a:srgbClr val="023773">
              <a:alpha val="29099"/>
            </a:srgbClr>
          </a:solidFill>
          <a:ln w="4763" cap="flat">
            <a:solidFill>
              <a:srgbClr val="993C1D"/>
            </a:solidFill>
            <a:prstDash val="solid"/>
            <a:miter/>
          </a:ln>
        </p:spPr>
        <p:txBody>
          <a:bodyPr/>
          <a:lstStyle/>
          <a:p>
            <a:endParaRPr lang="de-DE" dirty="0">
              <a:latin typeface="Objectivity" pitchFamily="2" charset="77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05C4F075-CA35-0E2A-FC2F-F80BBFE604D1}"/>
              </a:ext>
            </a:extLst>
          </p:cNvPr>
          <p:cNvSpPr txBox="1"/>
          <p:nvPr/>
        </p:nvSpPr>
        <p:spPr>
          <a:xfrm>
            <a:off x="2325559" y="2286881"/>
            <a:ext cx="7697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050" spc="0" baseline="0">
                <a:ln/>
                <a:solidFill>
                  <a:srgbClr val="712B13"/>
                </a:solidFill>
                <a:latin typeface="Objectivity" pitchFamily="2" charset="77"/>
                <a:cs typeface="Segoe UI"/>
                <a:sym typeface="Segoe UI"/>
                <a:rtl val="0"/>
              </a:rPr>
              <a:t>ADF4351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4898E8A7-5A63-6A79-A559-DBDD6B89531B}"/>
              </a:ext>
            </a:extLst>
          </p:cNvPr>
          <p:cNvSpPr txBox="1"/>
          <p:nvPr/>
        </p:nvSpPr>
        <p:spPr>
          <a:xfrm>
            <a:off x="2038111" y="2478888"/>
            <a:ext cx="14959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900" spc="0" baseline="0" dirty="0" err="1">
                <a:ln/>
                <a:solidFill>
                  <a:srgbClr val="993C1D"/>
                </a:solidFill>
                <a:latin typeface="Objectivity" pitchFamily="2" charset="77"/>
                <a:cs typeface="Segoe UI"/>
                <a:sym typeface="Segoe UI"/>
                <a:rtl val="0"/>
              </a:rPr>
              <a:t>Frequency</a:t>
            </a:r>
            <a:r>
              <a:rPr lang="de-DE" sz="900" spc="0" baseline="0" dirty="0">
                <a:ln/>
                <a:solidFill>
                  <a:srgbClr val="993C1D"/>
                </a:solidFill>
                <a:latin typeface="Objectivity" pitchFamily="2" charset="77"/>
                <a:cs typeface="Segoe UI"/>
                <a:sym typeface="Segoe UI"/>
                <a:rtl val="0"/>
              </a:rPr>
              <a:t> </a:t>
            </a:r>
            <a:r>
              <a:rPr lang="de-DE" sz="900" spc="0" baseline="0" dirty="0" err="1">
                <a:ln/>
                <a:solidFill>
                  <a:srgbClr val="993C1D"/>
                </a:solidFill>
                <a:latin typeface="Objectivity" pitchFamily="2" charset="77"/>
                <a:cs typeface="Segoe UI"/>
                <a:sym typeface="Segoe UI"/>
                <a:rtl val="0"/>
              </a:rPr>
              <a:t>synthesiser</a:t>
            </a:r>
            <a:endParaRPr lang="de-DE" sz="900" spc="0" baseline="0" dirty="0">
              <a:ln/>
              <a:solidFill>
                <a:srgbClr val="993C1D"/>
              </a:solidFill>
              <a:latin typeface="Objectivity" pitchFamily="2" charset="77"/>
              <a:cs typeface="Segoe UI"/>
              <a:sym typeface="Segoe UI"/>
              <a:rtl val="0"/>
            </a:endParaRPr>
          </a:p>
        </p:txBody>
      </p:sp>
      <p:grpSp>
        <p:nvGrpSpPr>
          <p:cNvPr id="30" name="Grafik 4">
            <a:extLst>
              <a:ext uri="{FF2B5EF4-FFF2-40B4-BE49-F238E27FC236}">
                <a16:creationId xmlns:a16="http://schemas.microsoft.com/office/drawing/2014/main" id="{E519D335-5CD9-135A-2F2D-1652D1D34A43}"/>
              </a:ext>
            </a:extLst>
          </p:cNvPr>
          <p:cNvGrpSpPr/>
          <p:nvPr/>
        </p:nvGrpSpPr>
        <p:grpSpPr>
          <a:xfrm>
            <a:off x="3968956" y="2286000"/>
            <a:ext cx="1619250" cy="419100"/>
            <a:chOff x="3968956" y="2286000"/>
            <a:chExt cx="1619250" cy="419100"/>
          </a:xfrm>
        </p:grpSpPr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756DED97-8B51-A514-E517-A8620A652D83}"/>
                </a:ext>
              </a:extLst>
            </p:cNvPr>
            <p:cNvSpPr/>
            <p:nvPr/>
          </p:nvSpPr>
          <p:spPr>
            <a:xfrm>
              <a:off x="3968956" y="2286000"/>
              <a:ext cx="1619250" cy="419100"/>
            </a:xfrm>
            <a:prstGeom prst="rect">
              <a:avLst/>
            </a:prstGeom>
            <a:solidFill>
              <a:srgbClr val="EAF3DE"/>
            </a:solidFill>
            <a:ln w="4763" cap="flat">
              <a:solidFill>
                <a:srgbClr val="3B6D11"/>
              </a:solidFill>
              <a:prstDash val="solid"/>
              <a:miter/>
            </a:ln>
          </p:spPr>
          <p:txBody>
            <a:bodyPr/>
            <a:lstStyle/>
            <a:p>
              <a:endParaRPr lang="de-DE">
                <a:latin typeface="Objectivity" pitchFamily="2" charset="77"/>
              </a:endParaRP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475D6307-6935-F71A-10FA-9D322E784DBD}"/>
                </a:ext>
              </a:extLst>
            </p:cNvPr>
            <p:cNvSpPr txBox="1"/>
            <p:nvPr/>
          </p:nvSpPr>
          <p:spPr>
            <a:xfrm>
              <a:off x="4269803" y="2305931"/>
              <a:ext cx="116249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1050" spc="0" baseline="0">
                  <a:ln/>
                  <a:solidFill>
                    <a:srgbClr val="27500A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NeoPixel LEDs</a:t>
              </a:r>
            </a:p>
          </p:txBody>
        </p:sp>
      </p:grpSp>
      <p:grpSp>
        <p:nvGrpSpPr>
          <p:cNvPr id="33" name="Grafik 4">
            <a:extLst>
              <a:ext uri="{FF2B5EF4-FFF2-40B4-BE49-F238E27FC236}">
                <a16:creationId xmlns:a16="http://schemas.microsoft.com/office/drawing/2014/main" id="{F4555827-3EFF-6DC8-3B28-0D60225DFBB5}"/>
              </a:ext>
            </a:extLst>
          </p:cNvPr>
          <p:cNvGrpSpPr/>
          <p:nvPr/>
        </p:nvGrpSpPr>
        <p:grpSpPr>
          <a:xfrm>
            <a:off x="6016831" y="2286000"/>
            <a:ext cx="1714500" cy="533400"/>
            <a:chOff x="6016831" y="2286000"/>
            <a:chExt cx="1714500" cy="533400"/>
          </a:xfrm>
        </p:grpSpPr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53E4E82E-5F3A-A8B9-B65D-DB5120FD6AAB}"/>
                </a:ext>
              </a:extLst>
            </p:cNvPr>
            <p:cNvSpPr/>
            <p:nvPr/>
          </p:nvSpPr>
          <p:spPr>
            <a:xfrm>
              <a:off x="6016831" y="2286000"/>
              <a:ext cx="1714500" cy="533400"/>
            </a:xfrm>
            <a:prstGeom prst="rect">
              <a:avLst/>
            </a:prstGeom>
            <a:solidFill>
              <a:srgbClr val="E1F5EE"/>
            </a:solidFill>
            <a:ln w="4763" cap="flat">
              <a:solidFill>
                <a:srgbClr val="0F6E56"/>
              </a:solidFill>
              <a:prstDash val="solid"/>
              <a:miter/>
            </a:ln>
          </p:spPr>
          <p:txBody>
            <a:bodyPr/>
            <a:lstStyle/>
            <a:p>
              <a:endParaRPr lang="de-DE">
                <a:latin typeface="Objectivity" pitchFamily="2" charset="77"/>
              </a:endParaRP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BD416E39-9155-5C27-A9CA-318A3FD3C5B2}"/>
                </a:ext>
              </a:extLst>
            </p:cNvPr>
            <p:cNvSpPr txBox="1"/>
            <p:nvPr/>
          </p:nvSpPr>
          <p:spPr>
            <a:xfrm>
              <a:off x="6538437" y="2286881"/>
              <a:ext cx="74090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1050" spc="0" baseline="0">
                  <a:ln/>
                  <a:solidFill>
                    <a:srgbClr val="085041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TSL2591</a:t>
              </a: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C22219E9-43C9-0529-417D-D92EBCF588AF}"/>
                </a:ext>
              </a:extLst>
            </p:cNvPr>
            <p:cNvSpPr txBox="1"/>
            <p:nvPr/>
          </p:nvSpPr>
          <p:spPr>
            <a:xfrm>
              <a:off x="6377261" y="2478888"/>
              <a:ext cx="112723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900" spc="0" baseline="0">
                  <a:ln/>
                  <a:solidFill>
                    <a:srgbClr val="0F6E56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Light sensor (IR)</a:t>
              </a:r>
            </a:p>
          </p:txBody>
        </p:sp>
      </p:grpSp>
      <p:sp>
        <p:nvSpPr>
          <p:cNvPr id="37" name="Freihandform 36">
            <a:extLst>
              <a:ext uri="{FF2B5EF4-FFF2-40B4-BE49-F238E27FC236}">
                <a16:creationId xmlns:a16="http://schemas.microsoft.com/office/drawing/2014/main" id="{F41C7048-5EA1-395D-6F11-DFD7827D763B}"/>
              </a:ext>
            </a:extLst>
          </p:cNvPr>
          <p:cNvSpPr/>
          <p:nvPr/>
        </p:nvSpPr>
        <p:spPr>
          <a:xfrm>
            <a:off x="2683081" y="2819400"/>
            <a:ext cx="9525" cy="514350"/>
          </a:xfrm>
          <a:custGeom>
            <a:avLst/>
            <a:gdLst>
              <a:gd name="csX0" fmla="*/ 0 w 9525"/>
              <a:gd name="csY0" fmla="*/ 0 h 514350"/>
              <a:gd name="csX1" fmla="*/ 0 w 9525"/>
              <a:gd name="csY1" fmla="*/ 514350 h 514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ln w="14288" cap="flat">
            <a:solidFill>
              <a:srgbClr val="73726C"/>
            </a:solidFill>
            <a:prstDash val="solid"/>
            <a:miter/>
            <a:tailEnd type="triangle"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48B5434B-644B-6BD8-8067-E33276719134}"/>
              </a:ext>
            </a:extLst>
          </p:cNvPr>
          <p:cNvSpPr txBox="1"/>
          <p:nvPr/>
        </p:nvSpPr>
        <p:spPr>
          <a:xfrm>
            <a:off x="2686891" y="2955138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900" spc="0" baseline="0">
                <a:ln/>
                <a:solidFill>
                  <a:srgbClr val="3D3D3A"/>
                </a:solidFill>
                <a:latin typeface="Objectivity" pitchFamily="2" charset="77"/>
                <a:cs typeface="Segoe UI"/>
                <a:sym typeface="Segoe UI"/>
                <a:rtl val="0"/>
              </a:rPr>
              <a:t>2.2–4.4 GHz</a:t>
            </a:r>
          </a:p>
        </p:txBody>
      </p:sp>
      <p:sp>
        <p:nvSpPr>
          <p:cNvPr id="39" name="Freihandform 38">
            <a:extLst>
              <a:ext uri="{FF2B5EF4-FFF2-40B4-BE49-F238E27FC236}">
                <a16:creationId xmlns:a16="http://schemas.microsoft.com/office/drawing/2014/main" id="{D913D154-BC3B-5323-6FDE-278181EA381C}"/>
              </a:ext>
            </a:extLst>
          </p:cNvPr>
          <p:cNvSpPr/>
          <p:nvPr/>
        </p:nvSpPr>
        <p:spPr>
          <a:xfrm>
            <a:off x="6874081" y="2819400"/>
            <a:ext cx="9525" cy="514350"/>
          </a:xfrm>
          <a:custGeom>
            <a:avLst/>
            <a:gdLst>
              <a:gd name="csX0" fmla="*/ 0 w 9525"/>
              <a:gd name="csY0" fmla="*/ 0 h 514350"/>
              <a:gd name="csX1" fmla="*/ 0 w 9525"/>
              <a:gd name="csY1" fmla="*/ 514350 h 514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ln w="14288" cap="flat">
            <a:solidFill>
              <a:srgbClr val="73726C"/>
            </a:solidFill>
            <a:prstDash val="solid"/>
            <a:miter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964CCE99-5BB3-5838-F15E-353674CBF523}"/>
              </a:ext>
            </a:extLst>
          </p:cNvPr>
          <p:cNvSpPr/>
          <p:nvPr/>
        </p:nvSpPr>
        <p:spPr>
          <a:xfrm>
            <a:off x="1825831" y="3333750"/>
            <a:ext cx="5905500" cy="1714500"/>
          </a:xfrm>
          <a:prstGeom prst="rect">
            <a:avLst/>
          </a:prstGeom>
          <a:noFill/>
          <a:ln w="4763" cap="flat">
            <a:solidFill>
              <a:srgbClr val="73726C">
                <a:alpha val="40000"/>
              </a:srgbClr>
            </a:solidFill>
            <a:custDash>
              <a:ds d="450000" sp="300000"/>
            </a:custDash>
            <a:miter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E028ADC4-8888-EB48-85B7-3D25FA7E0576}"/>
              </a:ext>
            </a:extLst>
          </p:cNvPr>
          <p:cNvSpPr txBox="1"/>
          <p:nvPr/>
        </p:nvSpPr>
        <p:spPr>
          <a:xfrm>
            <a:off x="1924891" y="3374238"/>
            <a:ext cx="25715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900" spc="0" baseline="0">
                <a:ln/>
                <a:solidFill>
                  <a:srgbClr val="3D3D3A"/>
                </a:solidFill>
                <a:latin typeface="Objectivity" pitchFamily="2" charset="77"/>
                <a:cs typeface="Segoe UI"/>
                <a:sym typeface="Segoe UI"/>
                <a:rtl val="0"/>
              </a:rPr>
              <a:t>Optical bench (openUC2 modular cubes)</a:t>
            </a:r>
          </a:p>
        </p:txBody>
      </p:sp>
      <p:grpSp>
        <p:nvGrpSpPr>
          <p:cNvPr id="42" name="Grafik 4">
            <a:extLst>
              <a:ext uri="{FF2B5EF4-FFF2-40B4-BE49-F238E27FC236}">
                <a16:creationId xmlns:a16="http://schemas.microsoft.com/office/drawing/2014/main" id="{42728F82-0E63-E412-7D54-773D1ED55B88}"/>
              </a:ext>
            </a:extLst>
          </p:cNvPr>
          <p:cNvGrpSpPr/>
          <p:nvPr/>
        </p:nvGrpSpPr>
        <p:grpSpPr>
          <a:xfrm>
            <a:off x="2016331" y="3791831"/>
            <a:ext cx="1143000" cy="494419"/>
            <a:chOff x="2016331" y="3791831"/>
            <a:chExt cx="1143000" cy="494419"/>
          </a:xfrm>
        </p:grpSpPr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C000650B-E1F5-6CD1-BE38-5D98F12347F5}"/>
                </a:ext>
              </a:extLst>
            </p:cNvPr>
            <p:cNvSpPr/>
            <p:nvPr/>
          </p:nvSpPr>
          <p:spPr>
            <a:xfrm>
              <a:off x="2016331" y="3810000"/>
              <a:ext cx="1143000" cy="476250"/>
            </a:xfrm>
            <a:prstGeom prst="rect">
              <a:avLst/>
            </a:prstGeom>
            <a:solidFill>
              <a:srgbClr val="EAF3DE"/>
            </a:solidFill>
            <a:ln w="4763" cap="flat">
              <a:solidFill>
                <a:srgbClr val="3B6D11"/>
              </a:solidFill>
              <a:prstDash val="solid"/>
              <a:miter/>
            </a:ln>
          </p:spPr>
          <p:txBody>
            <a:bodyPr/>
            <a:lstStyle/>
            <a:p>
              <a:endParaRPr lang="de-DE">
                <a:latin typeface="Objectivity" pitchFamily="2" charset="77"/>
              </a:endParaRP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C7EA5105-D89F-477B-197B-EDD709D039BE}"/>
                </a:ext>
              </a:extLst>
            </p:cNvPr>
            <p:cNvSpPr txBox="1"/>
            <p:nvPr/>
          </p:nvSpPr>
          <p:spPr>
            <a:xfrm>
              <a:off x="2165327" y="3791831"/>
              <a:ext cx="98135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1050" spc="0" baseline="0">
                  <a:ln/>
                  <a:solidFill>
                    <a:srgbClr val="27500A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Green laser</a:t>
              </a: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92517F91-A7A5-890C-B362-F0533897591D}"/>
                </a:ext>
              </a:extLst>
            </p:cNvPr>
            <p:cNvSpPr txBox="1"/>
            <p:nvPr/>
          </p:nvSpPr>
          <p:spPr>
            <a:xfrm>
              <a:off x="2306746" y="3983838"/>
              <a:ext cx="61427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900" spc="0" baseline="0">
                  <a:ln/>
                  <a:solidFill>
                    <a:srgbClr val="3B6D11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532 nm</a:t>
              </a:r>
            </a:p>
          </p:txBody>
        </p:sp>
      </p:grpSp>
      <p:sp>
        <p:nvSpPr>
          <p:cNvPr id="46" name="Freihandform 45">
            <a:extLst>
              <a:ext uri="{FF2B5EF4-FFF2-40B4-BE49-F238E27FC236}">
                <a16:creationId xmlns:a16="http://schemas.microsoft.com/office/drawing/2014/main" id="{7351DE7A-E898-A5EB-56F8-D184C10BA44B}"/>
              </a:ext>
            </a:extLst>
          </p:cNvPr>
          <p:cNvSpPr/>
          <p:nvPr/>
        </p:nvSpPr>
        <p:spPr>
          <a:xfrm>
            <a:off x="3159331" y="4048125"/>
            <a:ext cx="552450" cy="9525"/>
          </a:xfrm>
          <a:custGeom>
            <a:avLst/>
            <a:gdLst>
              <a:gd name="csX0" fmla="*/ 0 w 552450"/>
              <a:gd name="csY0" fmla="*/ 0 h 9525"/>
              <a:gd name="csX1" fmla="*/ 552450 w 55245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ln w="19050" cap="flat">
            <a:solidFill>
              <a:srgbClr val="639922"/>
            </a:solidFill>
            <a:prstDash val="solid"/>
            <a:miter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05E829E4-5349-3E49-5C4D-9FEC458A735D}"/>
              </a:ext>
            </a:extLst>
          </p:cNvPr>
          <p:cNvSpPr txBox="1"/>
          <p:nvPr/>
        </p:nvSpPr>
        <p:spPr>
          <a:xfrm>
            <a:off x="3239341" y="3793338"/>
            <a:ext cx="7649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900" spc="0" baseline="0">
                <a:ln/>
                <a:solidFill>
                  <a:srgbClr val="3D3D3A"/>
                </a:solidFill>
                <a:latin typeface="Objectivity" pitchFamily="2" charset="77"/>
                <a:cs typeface="Segoe UI"/>
                <a:sym typeface="Segoe UI"/>
                <a:rtl val="0"/>
              </a:rPr>
              <a:t>excitation</a:t>
            </a:r>
          </a:p>
        </p:txBody>
      </p:sp>
      <p:grpSp>
        <p:nvGrpSpPr>
          <p:cNvPr id="48" name="Grafik 4">
            <a:extLst>
              <a:ext uri="{FF2B5EF4-FFF2-40B4-BE49-F238E27FC236}">
                <a16:creationId xmlns:a16="http://schemas.microsoft.com/office/drawing/2014/main" id="{66F17BC7-4699-E943-246D-F13CA369938B}"/>
              </a:ext>
            </a:extLst>
          </p:cNvPr>
          <p:cNvGrpSpPr/>
          <p:nvPr/>
        </p:nvGrpSpPr>
        <p:grpSpPr>
          <a:xfrm>
            <a:off x="3730831" y="3714750"/>
            <a:ext cx="1721761" cy="666750"/>
            <a:chOff x="3730831" y="3714750"/>
            <a:chExt cx="1721761" cy="666750"/>
          </a:xfrm>
          <a:solidFill>
            <a:srgbClr val="1E9C7C">
              <a:alpha val="11000"/>
            </a:srgbClr>
          </a:solidFill>
        </p:grpSpPr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CF917E57-0582-C63E-8C22-593C17AA146B}"/>
                </a:ext>
              </a:extLst>
            </p:cNvPr>
            <p:cNvSpPr/>
            <p:nvPr/>
          </p:nvSpPr>
          <p:spPr>
            <a:xfrm>
              <a:off x="3730831" y="3714750"/>
              <a:ext cx="1714500" cy="666750"/>
            </a:xfrm>
            <a:prstGeom prst="rect">
              <a:avLst/>
            </a:prstGeom>
            <a:grpFill/>
            <a:ln w="4763" cap="flat">
              <a:solidFill>
                <a:srgbClr val="854F0B"/>
              </a:solidFill>
              <a:prstDash val="solid"/>
              <a:miter/>
            </a:ln>
          </p:spPr>
          <p:txBody>
            <a:bodyPr/>
            <a:lstStyle/>
            <a:p>
              <a:endParaRPr lang="de-DE">
                <a:latin typeface="Objectivity" pitchFamily="2" charset="77"/>
              </a:endParaRP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34F78067-2321-7278-60EF-933F1014DF19}"/>
                </a:ext>
              </a:extLst>
            </p:cNvPr>
            <p:cNvSpPr txBox="1"/>
            <p:nvPr/>
          </p:nvSpPr>
          <p:spPr>
            <a:xfrm>
              <a:off x="4124263" y="3753731"/>
              <a:ext cx="101822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1050" spc="0" baseline="0">
                  <a:ln/>
                  <a:solidFill>
                    <a:srgbClr val="633806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NV diamond</a:t>
              </a: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AB8E5F54-405A-80FB-23AA-A106BA6D36DB}"/>
                </a:ext>
              </a:extLst>
            </p:cNvPr>
            <p:cNvSpPr txBox="1"/>
            <p:nvPr/>
          </p:nvSpPr>
          <p:spPr>
            <a:xfrm>
              <a:off x="3924610" y="3945738"/>
              <a:ext cx="15279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900" spc="0" baseline="0">
                  <a:ln/>
                  <a:solidFill>
                    <a:srgbClr val="854F0B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on microwave antenna</a:t>
              </a:r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846D71E5-E1E1-20B5-3E02-E3A16C8C5FFE}"/>
                </a:ext>
              </a:extLst>
            </p:cNvPr>
            <p:cNvSpPr txBox="1"/>
            <p:nvPr/>
          </p:nvSpPr>
          <p:spPr>
            <a:xfrm>
              <a:off x="4267259" y="4098138"/>
              <a:ext cx="6815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900" spc="0" baseline="0">
                  <a:ln/>
                  <a:solidFill>
                    <a:srgbClr val="854F0B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~100 µm</a:t>
              </a:r>
            </a:p>
          </p:txBody>
        </p:sp>
      </p:grpSp>
      <p:sp>
        <p:nvSpPr>
          <p:cNvPr id="53" name="Freihandform 52">
            <a:extLst>
              <a:ext uri="{FF2B5EF4-FFF2-40B4-BE49-F238E27FC236}">
                <a16:creationId xmlns:a16="http://schemas.microsoft.com/office/drawing/2014/main" id="{9BED222C-B030-6BA9-5223-6DDDE33042F5}"/>
              </a:ext>
            </a:extLst>
          </p:cNvPr>
          <p:cNvSpPr/>
          <p:nvPr/>
        </p:nvSpPr>
        <p:spPr>
          <a:xfrm>
            <a:off x="2683081" y="4286250"/>
            <a:ext cx="1047750" cy="285750"/>
          </a:xfrm>
          <a:custGeom>
            <a:avLst/>
            <a:gdLst>
              <a:gd name="csX0" fmla="*/ 0 w 1047750"/>
              <a:gd name="csY0" fmla="*/ 0 h 1238250"/>
              <a:gd name="csX1" fmla="*/ 0 w 1047750"/>
              <a:gd name="csY1" fmla="*/ 1238250 h 1238250"/>
              <a:gd name="csX2" fmla="*/ 1047750 w 1047750"/>
              <a:gd name="csY2" fmla="*/ 1238250 h 1238250"/>
              <a:gd name="csX3" fmla="*/ 1047750 w 1047750"/>
              <a:gd name="csY3" fmla="*/ 1047750 h 1238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47750" h="1238250">
                <a:moveTo>
                  <a:pt x="0" y="0"/>
                </a:moveTo>
                <a:lnTo>
                  <a:pt x="0" y="1238250"/>
                </a:lnTo>
                <a:lnTo>
                  <a:pt x="1047750" y="1238250"/>
                </a:lnTo>
                <a:lnTo>
                  <a:pt x="1047750" y="1047750"/>
                </a:lnTo>
              </a:path>
            </a:pathLst>
          </a:custGeom>
          <a:noFill/>
          <a:ln w="14288" cap="flat">
            <a:solidFill>
              <a:srgbClr val="73726C"/>
            </a:solidFill>
            <a:prstDash val="solid"/>
            <a:miter/>
            <a:tailEnd type="triangle"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AF34B099-E353-E922-EA3A-7A4D44B1D28C}"/>
              </a:ext>
            </a:extLst>
          </p:cNvPr>
          <p:cNvSpPr txBox="1"/>
          <p:nvPr/>
        </p:nvSpPr>
        <p:spPr>
          <a:xfrm>
            <a:off x="2858341" y="4517238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900" spc="0" baseline="0">
                <a:ln/>
                <a:solidFill>
                  <a:srgbClr val="3D3D3A"/>
                </a:solidFill>
                <a:latin typeface="Objectivity" pitchFamily="2" charset="77"/>
                <a:cs typeface="Segoe UI"/>
                <a:sym typeface="Segoe UI"/>
                <a:rtl val="0"/>
              </a:rPr>
              <a:t>microwave drive</a:t>
            </a:r>
          </a:p>
        </p:txBody>
      </p:sp>
      <p:sp>
        <p:nvSpPr>
          <p:cNvPr id="55" name="Freihandform 54">
            <a:extLst>
              <a:ext uri="{FF2B5EF4-FFF2-40B4-BE49-F238E27FC236}">
                <a16:creationId xmlns:a16="http://schemas.microsoft.com/office/drawing/2014/main" id="{747862AC-8440-3BC3-268F-A5F0C5FB0E81}"/>
              </a:ext>
            </a:extLst>
          </p:cNvPr>
          <p:cNvSpPr/>
          <p:nvPr/>
        </p:nvSpPr>
        <p:spPr>
          <a:xfrm>
            <a:off x="5445331" y="4048125"/>
            <a:ext cx="361950" cy="9525"/>
          </a:xfrm>
          <a:custGeom>
            <a:avLst/>
            <a:gdLst>
              <a:gd name="csX0" fmla="*/ 0 w 361950"/>
              <a:gd name="csY0" fmla="*/ 0 h 9525"/>
              <a:gd name="csX1" fmla="*/ 361950 w 361950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19050" cap="flat">
            <a:solidFill>
              <a:srgbClr val="A32D2D"/>
            </a:solidFill>
            <a:prstDash val="solid"/>
            <a:miter/>
            <a:tailEnd type="triangle"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grpSp>
        <p:nvGrpSpPr>
          <p:cNvPr id="56" name="Grafik 4">
            <a:extLst>
              <a:ext uri="{FF2B5EF4-FFF2-40B4-BE49-F238E27FC236}">
                <a16:creationId xmlns:a16="http://schemas.microsoft.com/office/drawing/2014/main" id="{204D6959-C68F-7B0A-F201-C478717B8D9D}"/>
              </a:ext>
            </a:extLst>
          </p:cNvPr>
          <p:cNvGrpSpPr/>
          <p:nvPr/>
        </p:nvGrpSpPr>
        <p:grpSpPr>
          <a:xfrm>
            <a:off x="5826331" y="3791831"/>
            <a:ext cx="1013870" cy="494419"/>
            <a:chOff x="5826331" y="3791831"/>
            <a:chExt cx="1013870" cy="494419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75822325-760B-8967-FB72-FB28E98FE630}"/>
                </a:ext>
              </a:extLst>
            </p:cNvPr>
            <p:cNvSpPr/>
            <p:nvPr/>
          </p:nvSpPr>
          <p:spPr>
            <a:xfrm>
              <a:off x="5826331" y="3810000"/>
              <a:ext cx="952500" cy="476250"/>
            </a:xfrm>
            <a:prstGeom prst="rect">
              <a:avLst/>
            </a:prstGeom>
            <a:solidFill>
              <a:srgbClr val="84B818">
                <a:alpha val="26000"/>
              </a:srgbClr>
            </a:solidFill>
            <a:ln w="4763" cap="flat">
              <a:solidFill>
                <a:srgbClr val="534AB7"/>
              </a:solidFill>
              <a:prstDash val="solid"/>
              <a:miter/>
            </a:ln>
          </p:spPr>
          <p:txBody>
            <a:bodyPr/>
            <a:lstStyle/>
            <a:p>
              <a:endParaRPr lang="de-DE">
                <a:latin typeface="Objectivity" pitchFamily="2" charset="77"/>
              </a:endParaRPr>
            </a:p>
          </p:txBody>
        </p:sp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A070EF7F-ADC9-0C15-9A05-6E8E3E34B665}"/>
                </a:ext>
              </a:extLst>
            </p:cNvPr>
            <p:cNvSpPr txBox="1"/>
            <p:nvPr/>
          </p:nvSpPr>
          <p:spPr>
            <a:xfrm>
              <a:off x="5970518" y="3791831"/>
              <a:ext cx="74571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1050" spc="0" baseline="0" dirty="0" err="1">
                  <a:ln/>
                  <a:solidFill>
                    <a:srgbClr val="3C3489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Dichroic</a:t>
              </a:r>
              <a:endParaRPr lang="de-DE" sz="1050" spc="0" baseline="0" dirty="0">
                <a:ln/>
                <a:solidFill>
                  <a:srgbClr val="3C3489"/>
                </a:solidFill>
                <a:latin typeface="Objectivity" pitchFamily="2" charset="77"/>
                <a:cs typeface="Segoe UI"/>
                <a:sym typeface="Segoe UI"/>
                <a:rtl val="0"/>
              </a:endParaRPr>
            </a:p>
          </p:txBody>
        </p: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33A67D6D-4C5E-EFB7-7145-7BC07EFA2030}"/>
                </a:ext>
              </a:extLst>
            </p:cNvPr>
            <p:cNvSpPr txBox="1"/>
            <p:nvPr/>
          </p:nvSpPr>
          <p:spPr>
            <a:xfrm>
              <a:off x="5879682" y="3983838"/>
              <a:ext cx="96051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900" spc="0" baseline="0" dirty="0">
                  <a:ln/>
                  <a:solidFill>
                    <a:srgbClr val="534AB7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beam </a:t>
              </a:r>
              <a:r>
                <a:rPr lang="de-DE" sz="900" spc="0" baseline="0" dirty="0" err="1">
                  <a:ln/>
                  <a:solidFill>
                    <a:srgbClr val="534AB7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splitter</a:t>
              </a:r>
              <a:endParaRPr lang="de-DE" sz="900" spc="0" baseline="0" dirty="0">
                <a:ln/>
                <a:solidFill>
                  <a:srgbClr val="534AB7"/>
                </a:solidFill>
                <a:latin typeface="Objectivity" pitchFamily="2" charset="77"/>
                <a:cs typeface="Segoe UI"/>
                <a:sym typeface="Segoe UI"/>
                <a:rtl val="0"/>
              </a:endParaRPr>
            </a:p>
          </p:txBody>
        </p:sp>
      </p:grpSp>
      <p:sp>
        <p:nvSpPr>
          <p:cNvPr id="60" name="Freihandform 59">
            <a:extLst>
              <a:ext uri="{FF2B5EF4-FFF2-40B4-BE49-F238E27FC236}">
                <a16:creationId xmlns:a16="http://schemas.microsoft.com/office/drawing/2014/main" id="{36AFEC6A-6B8D-A1AC-E0B7-C9BEF91AEF64}"/>
              </a:ext>
            </a:extLst>
          </p:cNvPr>
          <p:cNvSpPr/>
          <p:nvPr/>
        </p:nvSpPr>
        <p:spPr>
          <a:xfrm>
            <a:off x="6874081" y="2819400"/>
            <a:ext cx="9525" cy="990600"/>
          </a:xfrm>
          <a:custGeom>
            <a:avLst/>
            <a:gdLst>
              <a:gd name="csX0" fmla="*/ 0 w 9525"/>
              <a:gd name="csY0" fmla="*/ 990600 h 990600"/>
              <a:gd name="csX1" fmla="*/ 0 w 9525"/>
              <a:gd name="csY1" fmla="*/ 0 h 990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25" h="990600">
                <a:moveTo>
                  <a:pt x="0" y="990600"/>
                </a:move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A32D2D"/>
            </a:solidFill>
            <a:prstDash val="solid"/>
            <a:miter/>
            <a:tailEnd type="triangle"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40DDB03C-CF35-8EF7-3391-3BE587D3947B}"/>
              </a:ext>
            </a:extLst>
          </p:cNvPr>
          <p:cNvSpPr txBox="1"/>
          <p:nvPr/>
        </p:nvSpPr>
        <p:spPr>
          <a:xfrm>
            <a:off x="6877891" y="3145638"/>
            <a:ext cx="11705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900" spc="0" baseline="0">
                <a:ln/>
                <a:solidFill>
                  <a:srgbClr val="3D3D3A"/>
                </a:solidFill>
                <a:latin typeface="Objectivity" pitchFamily="2" charset="77"/>
                <a:cs typeface="Segoe UI"/>
                <a:sym typeface="Segoe UI"/>
                <a:rtl val="0"/>
              </a:rPr>
              <a:t>red fluorescence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53BE10AF-99BC-F8C7-48BB-5C74ED19BC2F}"/>
              </a:ext>
            </a:extLst>
          </p:cNvPr>
          <p:cNvSpPr/>
          <p:nvPr/>
        </p:nvSpPr>
        <p:spPr>
          <a:xfrm>
            <a:off x="1825831" y="5334000"/>
            <a:ext cx="5905500" cy="1333500"/>
          </a:xfrm>
          <a:prstGeom prst="rect">
            <a:avLst/>
          </a:prstGeom>
          <a:noFill/>
          <a:ln w="4763" cap="flat">
            <a:solidFill>
              <a:srgbClr val="73726C">
                <a:alpha val="30000"/>
              </a:srgbClr>
            </a:solidFill>
            <a:prstDash val="solid"/>
            <a:miter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F6CB4D0F-1222-A3C0-CDDF-CDF46050B551}"/>
              </a:ext>
            </a:extLst>
          </p:cNvPr>
          <p:cNvSpPr txBox="1"/>
          <p:nvPr/>
        </p:nvSpPr>
        <p:spPr>
          <a:xfrm>
            <a:off x="3664487" y="5382506"/>
            <a:ext cx="25891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1050" spc="0" baseline="0">
                <a:ln/>
                <a:solidFill>
                  <a:srgbClr val="141413"/>
                </a:solidFill>
                <a:latin typeface="Objectivity" pitchFamily="2" charset="77"/>
                <a:cs typeface="Segoe UI"/>
                <a:sym typeface="Segoe UI"/>
                <a:rtl val="0"/>
              </a:rPr>
              <a:t>Measurement flow (SSE streaming)</a:t>
            </a:r>
          </a:p>
        </p:txBody>
      </p:sp>
      <p:grpSp>
        <p:nvGrpSpPr>
          <p:cNvPr id="64" name="Grafik 4">
            <a:extLst>
              <a:ext uri="{FF2B5EF4-FFF2-40B4-BE49-F238E27FC236}">
                <a16:creationId xmlns:a16="http://schemas.microsoft.com/office/drawing/2014/main" id="{60267C09-2F5F-444F-5BF8-6E8B5E29A095}"/>
              </a:ext>
            </a:extLst>
          </p:cNvPr>
          <p:cNvGrpSpPr/>
          <p:nvPr/>
        </p:nvGrpSpPr>
        <p:grpSpPr>
          <a:xfrm>
            <a:off x="2016331" y="5715000"/>
            <a:ext cx="1145084" cy="381000"/>
            <a:chOff x="2016331" y="5715000"/>
            <a:chExt cx="1145084" cy="381000"/>
          </a:xfrm>
        </p:grpSpPr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9066DA99-C886-7B65-E704-4EACE205753F}"/>
                </a:ext>
              </a:extLst>
            </p:cNvPr>
            <p:cNvSpPr/>
            <p:nvPr/>
          </p:nvSpPr>
          <p:spPr>
            <a:xfrm>
              <a:off x="2016331" y="5715000"/>
              <a:ext cx="1143000" cy="381000"/>
            </a:xfrm>
            <a:prstGeom prst="rect">
              <a:avLst/>
            </a:prstGeom>
            <a:solidFill>
              <a:srgbClr val="E6F1FB"/>
            </a:solidFill>
            <a:ln w="4763" cap="flat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de-DE">
                <a:latin typeface="Objectivity" pitchFamily="2" charset="77"/>
              </a:endParaRPr>
            </a:p>
          </p:txBody>
        </p:sp>
        <p:sp>
          <p:nvSpPr>
            <p:cNvPr id="66" name="Textfeld 65">
              <a:extLst>
                <a:ext uri="{FF2B5EF4-FFF2-40B4-BE49-F238E27FC236}">
                  <a16:creationId xmlns:a16="http://schemas.microsoft.com/office/drawing/2014/main" id="{832B18A7-46C0-53F0-EA30-302CE3A48808}"/>
                </a:ext>
              </a:extLst>
            </p:cNvPr>
            <p:cNvSpPr txBox="1"/>
            <p:nvPr/>
          </p:nvSpPr>
          <p:spPr>
            <a:xfrm>
              <a:off x="2151202" y="5736438"/>
              <a:ext cx="101021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900" spc="0" baseline="0">
                  <a:ln/>
                  <a:solidFill>
                    <a:srgbClr val="185FA5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Set frequency</a:t>
              </a:r>
            </a:p>
          </p:txBody>
        </p:sp>
      </p:grpSp>
      <p:sp>
        <p:nvSpPr>
          <p:cNvPr id="67" name="Freihandform 66">
            <a:extLst>
              <a:ext uri="{FF2B5EF4-FFF2-40B4-BE49-F238E27FC236}">
                <a16:creationId xmlns:a16="http://schemas.microsoft.com/office/drawing/2014/main" id="{BB669B28-0D2A-0803-15C6-C928E897E66A}"/>
              </a:ext>
            </a:extLst>
          </p:cNvPr>
          <p:cNvSpPr/>
          <p:nvPr/>
        </p:nvSpPr>
        <p:spPr>
          <a:xfrm>
            <a:off x="3159331" y="5905500"/>
            <a:ext cx="238125" cy="9525"/>
          </a:xfrm>
          <a:custGeom>
            <a:avLst/>
            <a:gdLst>
              <a:gd name="csX0" fmla="*/ 0 w 238125"/>
              <a:gd name="csY0" fmla="*/ 0 h 9525"/>
              <a:gd name="csX1" fmla="*/ 238125 w 23812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ln w="14288" cap="flat">
            <a:solidFill>
              <a:srgbClr val="73726C"/>
            </a:solidFill>
            <a:prstDash val="solid"/>
            <a:miter/>
            <a:tailEnd type="triangle"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09CB2D62-56F0-B6A2-34E8-91E42EE8B66A}"/>
              </a:ext>
            </a:extLst>
          </p:cNvPr>
          <p:cNvSpPr/>
          <p:nvPr/>
        </p:nvSpPr>
        <p:spPr>
          <a:xfrm>
            <a:off x="3426031" y="5715000"/>
            <a:ext cx="952500" cy="381000"/>
          </a:xfrm>
          <a:prstGeom prst="rect">
            <a:avLst/>
          </a:prstGeom>
          <a:solidFill>
            <a:srgbClr val="023773">
              <a:alpha val="29099"/>
            </a:srgbClr>
          </a:solidFill>
          <a:ln w="4763" cap="flat">
            <a:solidFill>
              <a:srgbClr val="993C1D"/>
            </a:solidFill>
            <a:prstDash val="solid"/>
            <a:miter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E8B58AA2-E41E-EC9C-EFB0-B3AB3F6B762E}"/>
              </a:ext>
            </a:extLst>
          </p:cNvPr>
          <p:cNvSpPr txBox="1"/>
          <p:nvPr/>
        </p:nvSpPr>
        <p:spPr>
          <a:xfrm>
            <a:off x="3572781" y="5736438"/>
            <a:ext cx="7601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900" spc="0" baseline="0">
                <a:ln/>
                <a:solidFill>
                  <a:srgbClr val="993C1D"/>
                </a:solidFill>
                <a:latin typeface="Objectivity" pitchFamily="2" charset="77"/>
                <a:cs typeface="Segoe UI"/>
                <a:sym typeface="Segoe UI"/>
                <a:rtl val="0"/>
              </a:rPr>
              <a:t>PLL settle</a:t>
            </a:r>
          </a:p>
        </p:txBody>
      </p:sp>
      <p:sp>
        <p:nvSpPr>
          <p:cNvPr id="71" name="Freihandform 70">
            <a:extLst>
              <a:ext uri="{FF2B5EF4-FFF2-40B4-BE49-F238E27FC236}">
                <a16:creationId xmlns:a16="http://schemas.microsoft.com/office/drawing/2014/main" id="{E388D41B-0640-3C76-ABCA-51C229A053C1}"/>
              </a:ext>
            </a:extLst>
          </p:cNvPr>
          <p:cNvSpPr/>
          <p:nvPr/>
        </p:nvSpPr>
        <p:spPr>
          <a:xfrm>
            <a:off x="4378531" y="5905500"/>
            <a:ext cx="238125" cy="9525"/>
          </a:xfrm>
          <a:custGeom>
            <a:avLst/>
            <a:gdLst>
              <a:gd name="csX0" fmla="*/ 0 w 238125"/>
              <a:gd name="csY0" fmla="*/ 0 h 9525"/>
              <a:gd name="csX1" fmla="*/ 238125 w 23812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ln w="14288" cap="flat">
            <a:solidFill>
              <a:srgbClr val="73726C"/>
            </a:solidFill>
            <a:prstDash val="solid"/>
            <a:miter/>
            <a:tailEnd type="triangle"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grpSp>
        <p:nvGrpSpPr>
          <p:cNvPr id="72" name="Grafik 4">
            <a:extLst>
              <a:ext uri="{FF2B5EF4-FFF2-40B4-BE49-F238E27FC236}">
                <a16:creationId xmlns:a16="http://schemas.microsoft.com/office/drawing/2014/main" id="{A21A8669-709B-4C9E-EF71-8B598D9A320D}"/>
              </a:ext>
            </a:extLst>
          </p:cNvPr>
          <p:cNvGrpSpPr/>
          <p:nvPr/>
        </p:nvGrpSpPr>
        <p:grpSpPr>
          <a:xfrm>
            <a:off x="4645231" y="5715000"/>
            <a:ext cx="952500" cy="381000"/>
            <a:chOff x="4645231" y="5715000"/>
            <a:chExt cx="952500" cy="381000"/>
          </a:xfrm>
        </p:grpSpPr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0751D179-9C7E-C604-5864-676F0E25F47E}"/>
                </a:ext>
              </a:extLst>
            </p:cNvPr>
            <p:cNvSpPr/>
            <p:nvPr/>
          </p:nvSpPr>
          <p:spPr>
            <a:xfrm>
              <a:off x="4645231" y="5715000"/>
              <a:ext cx="952500" cy="381000"/>
            </a:xfrm>
            <a:prstGeom prst="rect">
              <a:avLst/>
            </a:prstGeom>
            <a:solidFill>
              <a:srgbClr val="E1F5EE"/>
            </a:solidFill>
            <a:ln w="4763" cap="flat">
              <a:solidFill>
                <a:srgbClr val="0F6E56"/>
              </a:solidFill>
              <a:prstDash val="solid"/>
              <a:miter/>
            </a:ln>
          </p:spPr>
          <p:txBody>
            <a:bodyPr/>
            <a:lstStyle/>
            <a:p>
              <a:endParaRPr lang="de-DE">
                <a:latin typeface="Objectivity" pitchFamily="2" charset="77"/>
              </a:endParaRP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98B8325F-84E5-D650-167D-28D9ACEC5910}"/>
                </a:ext>
              </a:extLst>
            </p:cNvPr>
            <p:cNvSpPr txBox="1"/>
            <p:nvPr/>
          </p:nvSpPr>
          <p:spPr>
            <a:xfrm>
              <a:off x="4839866" y="5736438"/>
              <a:ext cx="64953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900" spc="0" baseline="0">
                  <a:ln/>
                  <a:solidFill>
                    <a:srgbClr val="0F6E56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Read IR</a:t>
              </a:r>
            </a:p>
          </p:txBody>
        </p:sp>
      </p:grpSp>
      <p:sp>
        <p:nvSpPr>
          <p:cNvPr id="75" name="Freihandform 74">
            <a:extLst>
              <a:ext uri="{FF2B5EF4-FFF2-40B4-BE49-F238E27FC236}">
                <a16:creationId xmlns:a16="http://schemas.microsoft.com/office/drawing/2014/main" id="{DA27B026-2F94-6AF5-C699-004DC8403998}"/>
              </a:ext>
            </a:extLst>
          </p:cNvPr>
          <p:cNvSpPr/>
          <p:nvPr/>
        </p:nvSpPr>
        <p:spPr>
          <a:xfrm>
            <a:off x="5597731" y="5905500"/>
            <a:ext cx="238125" cy="9525"/>
          </a:xfrm>
          <a:custGeom>
            <a:avLst/>
            <a:gdLst>
              <a:gd name="csX0" fmla="*/ 0 w 238125"/>
              <a:gd name="csY0" fmla="*/ 0 h 9525"/>
              <a:gd name="csX1" fmla="*/ 238125 w 23812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ln w="14288" cap="flat">
            <a:solidFill>
              <a:srgbClr val="73726C"/>
            </a:solidFill>
            <a:prstDash val="solid"/>
            <a:miter/>
            <a:tailEnd type="triangle"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grpSp>
        <p:nvGrpSpPr>
          <p:cNvPr id="76" name="Grafik 4">
            <a:extLst>
              <a:ext uri="{FF2B5EF4-FFF2-40B4-BE49-F238E27FC236}">
                <a16:creationId xmlns:a16="http://schemas.microsoft.com/office/drawing/2014/main" id="{41027EEE-6A81-83DC-CEC1-C544A8A7FE91}"/>
              </a:ext>
            </a:extLst>
          </p:cNvPr>
          <p:cNvGrpSpPr/>
          <p:nvPr/>
        </p:nvGrpSpPr>
        <p:grpSpPr>
          <a:xfrm>
            <a:off x="5864431" y="5715000"/>
            <a:ext cx="990361" cy="381000"/>
            <a:chOff x="5864431" y="5715000"/>
            <a:chExt cx="990361" cy="381000"/>
          </a:xfrm>
        </p:grpSpPr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BE12FE8F-E2E8-7295-A766-E07E4449EEA9}"/>
                </a:ext>
              </a:extLst>
            </p:cNvPr>
            <p:cNvSpPr/>
            <p:nvPr/>
          </p:nvSpPr>
          <p:spPr>
            <a:xfrm>
              <a:off x="5864431" y="5715000"/>
              <a:ext cx="952500" cy="381000"/>
            </a:xfrm>
            <a:prstGeom prst="rect">
              <a:avLst/>
            </a:prstGeom>
            <a:solidFill>
              <a:srgbClr val="F1EFE8"/>
            </a:solidFill>
            <a:ln w="4763" cap="flat">
              <a:solidFill>
                <a:srgbClr val="5F5E5A"/>
              </a:solidFill>
              <a:prstDash val="solid"/>
              <a:miter/>
            </a:ln>
          </p:spPr>
          <p:txBody>
            <a:bodyPr/>
            <a:lstStyle/>
            <a:p>
              <a:endParaRPr lang="de-DE">
                <a:latin typeface="Objectivity" pitchFamily="2" charset="77"/>
              </a:endParaRPr>
            </a:p>
          </p:txBody>
        </p:sp>
        <p:sp>
          <p:nvSpPr>
            <p:cNvPr id="78" name="Textfeld 77">
              <a:extLst>
                <a:ext uri="{FF2B5EF4-FFF2-40B4-BE49-F238E27FC236}">
                  <a16:creationId xmlns:a16="http://schemas.microsoft.com/office/drawing/2014/main" id="{498D3465-111F-FBB5-E878-D57395C05E26}"/>
                </a:ext>
              </a:extLst>
            </p:cNvPr>
            <p:cNvSpPr txBox="1"/>
            <p:nvPr/>
          </p:nvSpPr>
          <p:spPr>
            <a:xfrm>
              <a:off x="5968011" y="5736438"/>
              <a:ext cx="88678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900" spc="0" baseline="0">
                  <a:ln/>
                  <a:solidFill>
                    <a:srgbClr val="5F5E5A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Stream SSE</a:t>
              </a:r>
            </a:p>
          </p:txBody>
        </p:sp>
      </p:grpSp>
      <p:sp>
        <p:nvSpPr>
          <p:cNvPr id="79" name="Freihandform 78">
            <a:extLst>
              <a:ext uri="{FF2B5EF4-FFF2-40B4-BE49-F238E27FC236}">
                <a16:creationId xmlns:a16="http://schemas.microsoft.com/office/drawing/2014/main" id="{94EEA363-22A5-D903-1C6F-CD4ECF89F5CE}"/>
              </a:ext>
            </a:extLst>
          </p:cNvPr>
          <p:cNvSpPr/>
          <p:nvPr/>
        </p:nvSpPr>
        <p:spPr>
          <a:xfrm>
            <a:off x="6816931" y="5905500"/>
            <a:ext cx="238125" cy="9525"/>
          </a:xfrm>
          <a:custGeom>
            <a:avLst/>
            <a:gdLst>
              <a:gd name="csX0" fmla="*/ 0 w 238125"/>
              <a:gd name="csY0" fmla="*/ 0 h 9525"/>
              <a:gd name="csX1" fmla="*/ 238125 w 238125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ln w="14288" cap="flat">
            <a:solidFill>
              <a:srgbClr val="73726C"/>
            </a:solidFill>
            <a:prstDash val="solid"/>
            <a:miter/>
            <a:tailEnd type="triangle"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grpSp>
        <p:nvGrpSpPr>
          <p:cNvPr id="80" name="Grafik 4">
            <a:extLst>
              <a:ext uri="{FF2B5EF4-FFF2-40B4-BE49-F238E27FC236}">
                <a16:creationId xmlns:a16="http://schemas.microsoft.com/office/drawing/2014/main" id="{1C78F3B3-0FF7-2AD0-B348-57C3DD9DCE9B}"/>
              </a:ext>
            </a:extLst>
          </p:cNvPr>
          <p:cNvGrpSpPr/>
          <p:nvPr/>
        </p:nvGrpSpPr>
        <p:grpSpPr>
          <a:xfrm>
            <a:off x="7083631" y="5715000"/>
            <a:ext cx="571500" cy="381000"/>
            <a:chOff x="7083631" y="5715000"/>
            <a:chExt cx="571500" cy="381000"/>
          </a:xfrm>
        </p:grpSpPr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46D678DC-6838-F877-781E-D004F6C10460}"/>
                </a:ext>
              </a:extLst>
            </p:cNvPr>
            <p:cNvSpPr/>
            <p:nvPr/>
          </p:nvSpPr>
          <p:spPr>
            <a:xfrm>
              <a:off x="7083631" y="5715000"/>
              <a:ext cx="571500" cy="381000"/>
            </a:xfrm>
            <a:prstGeom prst="rect">
              <a:avLst/>
            </a:prstGeom>
            <a:solidFill>
              <a:srgbClr val="E6F1FB"/>
            </a:solidFill>
            <a:ln w="4763" cap="flat">
              <a:solidFill>
                <a:srgbClr val="185FA5"/>
              </a:solidFill>
              <a:prstDash val="solid"/>
              <a:miter/>
            </a:ln>
          </p:spPr>
          <p:txBody>
            <a:bodyPr/>
            <a:lstStyle/>
            <a:p>
              <a:endParaRPr lang="de-DE">
                <a:latin typeface="Objectivity" pitchFamily="2" charset="77"/>
              </a:endParaRPr>
            </a:p>
          </p:txBody>
        </p: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C96221D2-D50D-4936-4705-58B763744934}"/>
                </a:ext>
              </a:extLst>
            </p:cNvPr>
            <p:cNvSpPr txBox="1"/>
            <p:nvPr/>
          </p:nvSpPr>
          <p:spPr>
            <a:xfrm>
              <a:off x="7179240" y="5736438"/>
              <a:ext cx="40908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de-DE" sz="900" spc="0" baseline="0">
                  <a:ln/>
                  <a:solidFill>
                    <a:srgbClr val="185FA5"/>
                  </a:solidFill>
                  <a:latin typeface="Objectivity" pitchFamily="2" charset="77"/>
                  <a:cs typeface="Segoe UI"/>
                  <a:sym typeface="Segoe UI"/>
                  <a:rtl val="0"/>
                </a:rPr>
                <a:t>Plot</a:t>
              </a:r>
            </a:p>
          </p:txBody>
        </p:sp>
      </p:grpSp>
      <p:sp>
        <p:nvSpPr>
          <p:cNvPr id="83" name="Freihandform 82">
            <a:extLst>
              <a:ext uri="{FF2B5EF4-FFF2-40B4-BE49-F238E27FC236}">
                <a16:creationId xmlns:a16="http://schemas.microsoft.com/office/drawing/2014/main" id="{DD3BF078-E674-0C65-D445-4351751FC774}"/>
              </a:ext>
            </a:extLst>
          </p:cNvPr>
          <p:cNvSpPr/>
          <p:nvPr/>
        </p:nvSpPr>
        <p:spPr>
          <a:xfrm>
            <a:off x="2302081" y="6096000"/>
            <a:ext cx="2476500" cy="285750"/>
          </a:xfrm>
          <a:custGeom>
            <a:avLst/>
            <a:gdLst>
              <a:gd name="csX0" fmla="*/ 2476500 w 2476500"/>
              <a:gd name="csY0" fmla="*/ 0 h 285750"/>
              <a:gd name="csX1" fmla="*/ 2476500 w 2476500"/>
              <a:gd name="csY1" fmla="*/ 285750 h 285750"/>
              <a:gd name="csX2" fmla="*/ 0 w 2476500"/>
              <a:gd name="csY2" fmla="*/ 285750 h 285750"/>
              <a:gd name="csX3" fmla="*/ 0 w 2476500"/>
              <a:gd name="csY3" fmla="*/ 0 h 285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76500" h="285750">
                <a:moveTo>
                  <a:pt x="2476500" y="0"/>
                </a:moveTo>
                <a:lnTo>
                  <a:pt x="2476500" y="285750"/>
                </a:lnTo>
                <a:lnTo>
                  <a:pt x="0" y="285750"/>
                </a:lnTo>
                <a:lnTo>
                  <a:pt x="0" y="0"/>
                </a:lnTo>
              </a:path>
            </a:pathLst>
          </a:custGeom>
          <a:noFill/>
          <a:ln w="14288" cap="flat">
            <a:solidFill>
              <a:srgbClr val="73726C"/>
            </a:solidFill>
            <a:prstDash val="solid"/>
            <a:miter/>
            <a:tailEnd type="triangle"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C79B5750-9332-1AAD-527F-D28E001B63BD}"/>
              </a:ext>
            </a:extLst>
          </p:cNvPr>
          <p:cNvSpPr txBox="1"/>
          <p:nvPr/>
        </p:nvSpPr>
        <p:spPr>
          <a:xfrm>
            <a:off x="2212799" y="6346038"/>
            <a:ext cx="31085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sz="900" spc="0" baseline="0">
                <a:ln/>
                <a:solidFill>
                  <a:srgbClr val="3D3D3A"/>
                </a:solidFill>
                <a:latin typeface="Objectivity" pitchFamily="2" charset="77"/>
                <a:cs typeface="Segoe UI"/>
                <a:sym typeface="Segoe UI"/>
                <a:rtl val="0"/>
              </a:rPr>
              <a:t>Repeat for each frequency step (f_begin → f_end)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E44E828-1F49-5A17-8FC4-CF2417DE72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5227" y="77620"/>
            <a:ext cx="6477000" cy="533399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2A2A6F8-03E6-2CF6-9326-98221DE09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073" y="1057981"/>
            <a:ext cx="508782" cy="643901"/>
          </a:xfrm>
          <a:prstGeom prst="rect">
            <a:avLst/>
          </a:prstGeom>
        </p:spPr>
      </p:pic>
      <p:sp>
        <p:nvSpPr>
          <p:cNvPr id="86" name="Freihandform 85">
            <a:extLst>
              <a:ext uri="{FF2B5EF4-FFF2-40B4-BE49-F238E27FC236}">
                <a16:creationId xmlns:a16="http://schemas.microsoft.com/office/drawing/2014/main" id="{E8D2E19D-4F52-DCD8-04A8-87C741D152C4}"/>
              </a:ext>
            </a:extLst>
          </p:cNvPr>
          <p:cNvSpPr/>
          <p:nvPr/>
        </p:nvSpPr>
        <p:spPr>
          <a:xfrm>
            <a:off x="6049489" y="430531"/>
            <a:ext cx="2513872" cy="0"/>
          </a:xfrm>
          <a:custGeom>
            <a:avLst/>
            <a:gdLst>
              <a:gd name="csX0" fmla="*/ 0 w 1047750"/>
              <a:gd name="csY0" fmla="*/ 0 h 571500"/>
              <a:gd name="csX1" fmla="*/ 1047750 w 1047750"/>
              <a:gd name="csY1" fmla="*/ 571500 h 571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47750" h="571500">
                <a:moveTo>
                  <a:pt x="0" y="0"/>
                </a:moveTo>
                <a:lnTo>
                  <a:pt x="1047750" y="571500"/>
                </a:lnTo>
              </a:path>
            </a:pathLst>
          </a:custGeom>
          <a:ln w="14288" cap="flat">
            <a:solidFill>
              <a:srgbClr val="73726C"/>
            </a:solidFill>
            <a:prstDash val="solid"/>
            <a:miter/>
            <a:headEnd type="triangle"/>
            <a:tailEnd type="triangle"/>
          </a:ln>
        </p:spPr>
        <p:txBody>
          <a:bodyPr/>
          <a:lstStyle/>
          <a:p>
            <a:endParaRPr lang="de-DE">
              <a:latin typeface="Objectivity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49090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Macintosh PowerPoint</Application>
  <PresentationFormat>Breitbild</PresentationFormat>
  <Paragraphs>32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Objectivity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 </dc:creator>
  <cp:lastModifiedBy> </cp:lastModifiedBy>
  <cp:revision>1</cp:revision>
  <dcterms:created xsi:type="dcterms:W3CDTF">2026-03-25T08:26:14Z</dcterms:created>
  <dcterms:modified xsi:type="dcterms:W3CDTF">2026-03-25T11:55:56Z</dcterms:modified>
</cp:coreProperties>
</file>